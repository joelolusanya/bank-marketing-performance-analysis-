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l Olusanya" userId="333ab02af483d166" providerId="LiveId" clId="{F2CDE815-E823-4A02-9324-D06211D791EC}"/>
    <pc:docChg chg="custSel addSld modSld">
      <pc:chgData name="Joel Olusanya" userId="333ab02af483d166" providerId="LiveId" clId="{F2CDE815-E823-4A02-9324-D06211D791EC}" dt="2026-08-18T13:14:56.098" v="101" actId="27636"/>
      <pc:docMkLst>
        <pc:docMk/>
      </pc:docMkLst>
      <pc:sldChg chg="modSp mod">
        <pc:chgData name="Joel Olusanya" userId="333ab02af483d166" providerId="LiveId" clId="{F2CDE815-E823-4A02-9324-D06211D791EC}" dt="2026-08-18T13:14:55.653" v="99"/>
        <pc:sldMkLst>
          <pc:docMk/>
          <pc:sldMk cId="1022746925" sldId="256"/>
        </pc:sldMkLst>
        <pc:spChg chg="mod">
          <ac:chgData name="Joel Olusanya" userId="333ab02af483d166" providerId="LiveId" clId="{F2CDE815-E823-4A02-9324-D06211D791EC}" dt="2026-08-18T13:14:55.653" v="99"/>
          <ac:spMkLst>
            <pc:docMk/>
            <pc:sldMk cId="1022746925" sldId="256"/>
            <ac:spMk id="2" creationId="{84644866-EFCE-41F7-91F4-C630DD8B06DB}"/>
          </ac:spMkLst>
        </pc:spChg>
        <pc:spChg chg="mod">
          <ac:chgData name="Joel Olusanya" userId="333ab02af483d166" providerId="LiveId" clId="{F2CDE815-E823-4A02-9324-D06211D791EC}" dt="2026-08-18T13:14:55.653" v="99"/>
          <ac:spMkLst>
            <pc:docMk/>
            <pc:sldMk cId="1022746925" sldId="256"/>
            <ac:spMk id="3" creationId="{461C925F-6B4E-4DB8-9009-F5A220B41508}"/>
          </ac:spMkLst>
        </pc:spChg>
      </pc:sldChg>
      <pc:sldChg chg="modSp mod">
        <pc:chgData name="Joel Olusanya" userId="333ab02af483d166" providerId="LiveId" clId="{F2CDE815-E823-4A02-9324-D06211D791EC}" dt="2026-08-18T13:14:56.078" v="100" actId="27636"/>
        <pc:sldMkLst>
          <pc:docMk/>
          <pc:sldMk cId="3331768890" sldId="257"/>
        </pc:sldMkLst>
        <pc:spChg chg="mod">
          <ac:chgData name="Joel Olusanya" userId="333ab02af483d166" providerId="LiveId" clId="{F2CDE815-E823-4A02-9324-D06211D791EC}" dt="2026-08-18T13:14:55.653" v="99"/>
          <ac:spMkLst>
            <pc:docMk/>
            <pc:sldMk cId="3331768890" sldId="257"/>
            <ac:spMk id="2" creationId="{26626DBE-13BD-42A2-889F-43729A6DF1AF}"/>
          </ac:spMkLst>
        </pc:spChg>
        <pc:spChg chg="mod">
          <ac:chgData name="Joel Olusanya" userId="333ab02af483d166" providerId="LiveId" clId="{F2CDE815-E823-4A02-9324-D06211D791EC}" dt="2026-08-18T13:14:56.078" v="100" actId="27636"/>
          <ac:spMkLst>
            <pc:docMk/>
            <pc:sldMk cId="3331768890" sldId="257"/>
            <ac:spMk id="3" creationId="{0A700D67-8D9B-4900-AC4A-239A3BAA681A}"/>
          </ac:spMkLst>
        </pc:spChg>
      </pc:sldChg>
      <pc:sldChg chg="modSp mod">
        <pc:chgData name="Joel Olusanya" userId="333ab02af483d166" providerId="LiveId" clId="{F2CDE815-E823-4A02-9324-D06211D791EC}" dt="2026-08-18T13:14:55.653" v="99"/>
        <pc:sldMkLst>
          <pc:docMk/>
          <pc:sldMk cId="503212704" sldId="258"/>
        </pc:sldMkLst>
        <pc:spChg chg="mod">
          <ac:chgData name="Joel Olusanya" userId="333ab02af483d166" providerId="LiveId" clId="{F2CDE815-E823-4A02-9324-D06211D791EC}" dt="2026-08-18T13:14:55.653" v="99"/>
          <ac:spMkLst>
            <pc:docMk/>
            <pc:sldMk cId="503212704" sldId="258"/>
            <ac:spMk id="2" creationId="{155233F3-03F0-434B-A474-E1716D712234}"/>
          </ac:spMkLst>
        </pc:spChg>
        <pc:spChg chg="mod">
          <ac:chgData name="Joel Olusanya" userId="333ab02af483d166" providerId="LiveId" clId="{F2CDE815-E823-4A02-9324-D06211D791EC}" dt="2026-08-18T13:14:55.653" v="99"/>
          <ac:spMkLst>
            <pc:docMk/>
            <pc:sldMk cId="503212704" sldId="258"/>
            <ac:spMk id="3" creationId="{76E4803A-A4D8-4B4E-95D4-8130ED6D8390}"/>
          </ac:spMkLst>
        </pc:spChg>
      </pc:sldChg>
      <pc:sldChg chg="addSp modSp new mod">
        <pc:chgData name="Joel Olusanya" userId="333ab02af483d166" providerId="LiveId" clId="{F2CDE815-E823-4A02-9324-D06211D791EC}" dt="2026-08-18T13:14:55.653" v="99"/>
        <pc:sldMkLst>
          <pc:docMk/>
          <pc:sldMk cId="1788603224" sldId="259"/>
        </pc:sldMkLst>
        <pc:spChg chg="mod">
          <ac:chgData name="Joel Olusanya" userId="333ab02af483d166" providerId="LiveId" clId="{F2CDE815-E823-4A02-9324-D06211D791EC}" dt="2026-08-18T13:14:55.653" v="99"/>
          <ac:spMkLst>
            <pc:docMk/>
            <pc:sldMk cId="1788603224" sldId="259"/>
            <ac:spMk id="2" creationId="{EAF4D5AD-AC9E-4295-B573-6BD689544E66}"/>
          </ac:spMkLst>
        </pc:spChg>
        <pc:spChg chg="mod">
          <ac:chgData name="Joel Olusanya" userId="333ab02af483d166" providerId="LiveId" clId="{F2CDE815-E823-4A02-9324-D06211D791EC}" dt="2026-08-18T13:14:55.653" v="99"/>
          <ac:spMkLst>
            <pc:docMk/>
            <pc:sldMk cId="1788603224" sldId="259"/>
            <ac:spMk id="3" creationId="{909941C4-0715-447D-A4BA-4734463717C1}"/>
          </ac:spMkLst>
        </pc:spChg>
        <pc:picChg chg="add mod">
          <ac:chgData name="Joel Olusanya" userId="333ab02af483d166" providerId="LiveId" clId="{F2CDE815-E823-4A02-9324-D06211D791EC}" dt="2026-08-17T11:56:47.841" v="17" actId="1076"/>
          <ac:picMkLst>
            <pc:docMk/>
            <pc:sldMk cId="1788603224" sldId="259"/>
            <ac:picMk id="5" creationId="{EAF7ACD4-744D-4569-A9D8-F61CC7BC0832}"/>
          </ac:picMkLst>
        </pc:picChg>
      </pc:sldChg>
      <pc:sldChg chg="modSp new mod">
        <pc:chgData name="Joel Olusanya" userId="333ab02af483d166" providerId="LiveId" clId="{F2CDE815-E823-4A02-9324-D06211D791EC}" dt="2026-08-18T13:14:56.098" v="101" actId="27636"/>
        <pc:sldMkLst>
          <pc:docMk/>
          <pc:sldMk cId="4031991708" sldId="260"/>
        </pc:sldMkLst>
        <pc:spChg chg="mod">
          <ac:chgData name="Joel Olusanya" userId="333ab02af483d166" providerId="LiveId" clId="{F2CDE815-E823-4A02-9324-D06211D791EC}" dt="2026-08-18T13:14:55.653" v="99"/>
          <ac:spMkLst>
            <pc:docMk/>
            <pc:sldMk cId="4031991708" sldId="260"/>
            <ac:spMk id="2" creationId="{51A058FA-E772-4F41-872C-E100D1BCD885}"/>
          </ac:spMkLst>
        </pc:spChg>
        <pc:spChg chg="mod">
          <ac:chgData name="Joel Olusanya" userId="333ab02af483d166" providerId="LiveId" clId="{F2CDE815-E823-4A02-9324-D06211D791EC}" dt="2026-08-18T13:14:56.098" v="101" actId="27636"/>
          <ac:spMkLst>
            <pc:docMk/>
            <pc:sldMk cId="4031991708" sldId="260"/>
            <ac:spMk id="3" creationId="{8B29B150-423C-496C-A2E5-4B372FDAADF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96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28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09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424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25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97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1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61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054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442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66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369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288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109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028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4520202-062B-4B09-A378-9DC75230EA25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14BE43C-6404-42D4-B50E-3AD529323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8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44866-EFCE-41F7-91F4-C630DD8B06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Optimizing Bank Marketing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C925F-6B4E-4DB8-9009-F5A220B415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/>
              <a:t>Data-Driven Strategies for Targeted Customer Acquisition &amp; Conversion Footer: Prepared by Joel Olusanya |  14 August,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746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26DBE-13BD-42A2-889F-43729A6D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Executive Summary (The Bottom Line  Up Front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00D67-8D9B-4900-AC4A-239A3BAA6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Action Title: Targeted marketing interventions can significantly reduce acquisition waste. Content (3 Columns / Tiles)</a:t>
            </a:r>
          </a:p>
          <a:p>
            <a:endParaRPr lang="en-US" sz="2000" dirty="0"/>
          </a:p>
          <a:p>
            <a:r>
              <a:rPr lang="en-US" sz="2000" dirty="0"/>
              <a:t>1. Identify the Core Driver: Conversion is heavily concentrated in specific age cohorts rather than evenly distributed.</a:t>
            </a:r>
          </a:p>
          <a:p>
            <a:r>
              <a:rPr lang="en-US" sz="2000" dirty="0"/>
              <a:t>2. Optimize Channels: Campaign timing and channel selection directly influence customer response rates.</a:t>
            </a:r>
          </a:p>
          <a:p>
            <a:r>
              <a:rPr lang="en-US" sz="2000" dirty="0"/>
              <a:t>3. Strategic Pivot: Reallocating 30% of budget to high-yield segments increases expected return on ad spend (ROAS).</a:t>
            </a:r>
          </a:p>
        </p:txBody>
      </p:sp>
    </p:spTree>
    <p:extLst>
      <p:ext uri="{BB962C8B-B14F-4D97-AF65-F5344CB8AC3E}">
        <p14:creationId xmlns:p14="http://schemas.microsoft.com/office/powerpoint/2010/main" val="3331768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233F3-03F0-434B-A474-E1716D712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sz="2400" dirty="0"/>
              <a:t>Current Performance &amp; Bottlenecks (The Problem)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4803A-A4D8-4B4E-95D4-8130ED6D8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Action Title: Broad campaigns suffer from high acquisition friction and low conversion visibility.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736788-4FF6-4C45-B021-06BF96310758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0736F0-20F2-4D97-B8F7-4C666578093F}"/>
              </a:ext>
            </a:extLst>
          </p:cNvPr>
          <p:cNvSpPr txBox="1"/>
          <p:nvPr/>
        </p:nvSpPr>
        <p:spPr>
          <a:xfrm>
            <a:off x="6096000" y="2968180"/>
            <a:ext cx="4473388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F4FB10-8A49-42F9-8DEA-30D783383E15}"/>
              </a:ext>
            </a:extLst>
          </p:cNvPr>
          <p:cNvSpPr txBox="1"/>
          <p:nvPr/>
        </p:nvSpPr>
        <p:spPr>
          <a:xfrm>
            <a:off x="1353671" y="3039034"/>
            <a:ext cx="457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Mass blanket calling resulted in high marketing costs.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Lack of audience segmentation led to wasted phone calls on low-intent clients.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Difficulty tracking real-time success metrics during previous cycles.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AB40A6-3D41-48C8-8ADC-1C9FB1739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142" y="2833243"/>
            <a:ext cx="4061812" cy="6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212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4D5AD-AC9E-4295-B573-6BD689544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Demographic Breakdown – The Power of Targeting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941C4-0715-447D-A4BA-473446371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Action Title: Customer conversion rates peak sharply within specific age groups.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Younger and older demographics exhibit drastically different propensity to subscribe.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F7ACD4-744D-4569-A9D8-F61CC7BC0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872" y="2293977"/>
            <a:ext cx="4463903" cy="243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603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058FA-E772-4F41-872C-E100D1BCD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Strategic Recommendations and 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9B150-423C-496C-A2E5-4B372FDAA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Action Title: A phased reallocation of marketing resources will maximize campaign ROI.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3-Step Tiled Flow / Timeline: </a:t>
            </a:r>
          </a:p>
          <a:p>
            <a:pPr marL="0" indent="0">
              <a:buNone/>
            </a:pPr>
            <a:r>
              <a:rPr lang="en-US" sz="2000" dirty="0"/>
              <a:t>Phase 1 (Immediate): Pause low-performing demographic segments and reallocate budget to top-tier cohorts. </a:t>
            </a:r>
          </a:p>
          <a:p>
            <a:pPr marL="0" indent="0">
              <a:buNone/>
            </a:pPr>
            <a:r>
              <a:rPr lang="en-US" sz="2000" dirty="0"/>
              <a:t>Phase 2 (Q2): Personalize messaging triggers based on historical engagement patterns. </a:t>
            </a:r>
          </a:p>
          <a:p>
            <a:pPr marL="0" indent="0">
              <a:buNone/>
            </a:pPr>
            <a:r>
              <a:rPr lang="en-US" sz="2000" dirty="0"/>
              <a:t>Phase 3 (Q3): Implement automated tracking dashboards for real-time campaign adjustments.</a:t>
            </a:r>
          </a:p>
        </p:txBody>
      </p:sp>
    </p:spTree>
    <p:extLst>
      <p:ext uri="{BB962C8B-B14F-4D97-AF65-F5344CB8AC3E}">
        <p14:creationId xmlns:p14="http://schemas.microsoft.com/office/powerpoint/2010/main" val="40319917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1553</TotalTime>
  <Words>266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Garamond</vt:lpstr>
      <vt:lpstr>Organic</vt:lpstr>
      <vt:lpstr>Optimizing Bank Marketing Performance</vt:lpstr>
      <vt:lpstr>Executive Summary (The Bottom Line  Up Front )</vt:lpstr>
      <vt:lpstr> Current Performance &amp; Bottlenecks (The Problem)</vt:lpstr>
      <vt:lpstr>Demographic Breakdown – The Power of Targeting</vt:lpstr>
      <vt:lpstr>Strategic Recommendations and 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Bank Marketing Performance</dc:title>
  <dc:creator>Joel Olusanya</dc:creator>
  <cp:lastModifiedBy>Joel Olusanya</cp:lastModifiedBy>
  <cp:revision>7</cp:revision>
  <dcterms:created xsi:type="dcterms:W3CDTF">2026-08-17T11:21:28Z</dcterms:created>
  <dcterms:modified xsi:type="dcterms:W3CDTF">2026-08-18T13:15:05Z</dcterms:modified>
</cp:coreProperties>
</file>